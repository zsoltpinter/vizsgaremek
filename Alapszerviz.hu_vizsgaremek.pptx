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</p:sldIdLst>
  <p:sldSz cx="16256000" cy="9144000"/>
  <p:notesSz cx="6858000" cy="9144000"/>
  <p:embeddedFontLst>
    <p:embeddedFont>
      <p:font typeface="Neue Haas Grotesk Display Pro" panose="020D0504030502050203" charset="-18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E29"/>
    <a:srgbClr val="131E2A"/>
    <a:srgbClr val="FFC107"/>
    <a:srgbClr val="1987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09" autoAdjust="0"/>
  </p:normalViewPr>
  <p:slideViewPr>
    <p:cSldViewPr>
      <p:cViewPr varScale="1">
        <p:scale>
          <a:sx n="53" d="100"/>
          <a:sy n="53" d="100"/>
        </p:scale>
        <p:origin x="474" y="78"/>
      </p:cViewPr>
      <p:guideLst>
        <p:guide orient="horz" pos="302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lapszerviz.hu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0E93482B-8A8B-4858-A74B-0F6C021DB2BD}"/>
              </a:ext>
            </a:extLst>
          </p:cNvPr>
          <p:cNvSpPr txBox="1"/>
          <p:nvPr/>
        </p:nvSpPr>
        <p:spPr>
          <a:xfrm>
            <a:off x="821436" y="626597"/>
            <a:ext cx="91823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5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Alapszerviz.hu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2559F0E-C82B-4662-9736-FAEBA5254E90}"/>
              </a:ext>
            </a:extLst>
          </p:cNvPr>
          <p:cNvSpPr/>
          <p:nvPr/>
        </p:nvSpPr>
        <p:spPr>
          <a:xfrm>
            <a:off x="853186" y="3857788"/>
            <a:ext cx="76200" cy="167640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AB70FD08-9D97-4670-8AA3-A12BA7809E6A}"/>
              </a:ext>
            </a:extLst>
          </p:cNvPr>
          <p:cNvGrpSpPr/>
          <p:nvPr/>
        </p:nvGrpSpPr>
        <p:grpSpPr>
          <a:xfrm>
            <a:off x="821436" y="7179301"/>
            <a:ext cx="8818880" cy="941678"/>
            <a:chOff x="1011936" y="2688484"/>
            <a:chExt cx="8818880" cy="941678"/>
          </a:xfrm>
        </p:grpSpPr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961F8356-B348-4048-BCD0-41302939E4EB}"/>
                </a:ext>
              </a:extLst>
            </p:cNvPr>
            <p:cNvSpPr txBox="1"/>
            <p:nvPr/>
          </p:nvSpPr>
          <p:spPr>
            <a:xfrm>
              <a:off x="1041400" y="2688484"/>
              <a:ext cx="878941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400" b="1" dirty="0">
                  <a:solidFill>
                    <a:srgbClr val="FFC107"/>
                  </a:solidFill>
                  <a:latin typeface="Neue Haas Grotesk Display Pro" panose="020D0504030502050203" pitchFamily="34" charset="-18"/>
                </a:rPr>
                <a:t>Készítette : </a:t>
              </a:r>
              <a:r>
                <a:rPr lang="hu-HU" sz="2400" b="1" dirty="0">
                  <a:solidFill>
                    <a:schemeClr val="bg1">
                      <a:lumMod val="95000"/>
                    </a:schemeClr>
                  </a:solidFill>
                  <a:latin typeface="Neue Haas Grotesk Display Pro" panose="020D0504030502050203" pitchFamily="34" charset="-18"/>
                </a:rPr>
                <a:t>Pintér Zsolt, Lőrincz Levente</a:t>
              </a:r>
            </a:p>
          </p:txBody>
        </p:sp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4E34B76D-D5B3-4893-8C23-9A13EB04E88A}"/>
                </a:ext>
              </a:extLst>
            </p:cNvPr>
            <p:cNvSpPr txBox="1"/>
            <p:nvPr/>
          </p:nvSpPr>
          <p:spPr>
            <a:xfrm>
              <a:off x="1011936" y="3168497"/>
              <a:ext cx="878941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400" b="1" dirty="0">
                  <a:solidFill>
                    <a:srgbClr val="FFC107"/>
                  </a:solidFill>
                  <a:latin typeface="Neue Haas Grotesk Display Pro" panose="020D0504030502050203" pitchFamily="34" charset="-18"/>
                </a:rPr>
                <a:t>Témavezető : </a:t>
              </a:r>
              <a:r>
                <a:rPr lang="hu-HU" sz="2400" b="1" dirty="0">
                  <a:solidFill>
                    <a:schemeClr val="bg1">
                      <a:lumMod val="95000"/>
                    </a:schemeClr>
                  </a:solidFill>
                  <a:latin typeface="Neue Haas Grotesk Display Pro" panose="020D0504030502050203" pitchFamily="34" charset="-18"/>
                </a:rPr>
                <a:t>Kovács László</a:t>
              </a:r>
            </a:p>
          </p:txBody>
        </p:sp>
      </p:grpSp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B65CDAEA-2307-4D05-AD12-82B4669A5AA4}"/>
              </a:ext>
            </a:extLst>
          </p:cNvPr>
          <p:cNvGrpSpPr/>
          <p:nvPr/>
        </p:nvGrpSpPr>
        <p:grpSpPr>
          <a:xfrm>
            <a:off x="7975600" y="2488645"/>
            <a:ext cx="8024582" cy="5327904"/>
            <a:chOff x="7387122" y="2574144"/>
            <a:chExt cx="8024582" cy="5327904"/>
          </a:xfrm>
        </p:grpSpPr>
        <p:pic>
          <p:nvPicPr>
            <p:cNvPr id="12" name="Kép 11">
              <a:extLst>
                <a:ext uri="{FF2B5EF4-FFF2-40B4-BE49-F238E27FC236}">
                  <a16:creationId xmlns:a16="http://schemas.microsoft.com/office/drawing/2014/main" id="{85567425-82B4-4D69-B0DE-B598168C8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7122" y="2574144"/>
              <a:ext cx="8024582" cy="5327904"/>
            </a:xfrm>
            <a:prstGeom prst="rect">
              <a:avLst/>
            </a:prstGeom>
            <a:effectLst>
              <a:outerShdw blurRad="1270000" dist="50800" dir="5400000" algn="ctr" rotWithShape="0">
                <a:srgbClr val="FFC107">
                  <a:alpha val="43000"/>
                </a:srgbClr>
              </a:outerShdw>
            </a:effectLst>
          </p:spPr>
        </p:pic>
        <p:pic>
          <p:nvPicPr>
            <p:cNvPr id="14" name="Kép 13">
              <a:extLst>
                <a:ext uri="{FF2B5EF4-FFF2-40B4-BE49-F238E27FC236}">
                  <a16:creationId xmlns:a16="http://schemas.microsoft.com/office/drawing/2014/main" id="{478C8EB9-85A7-471D-A5EB-37F60D500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0000" y="3352800"/>
              <a:ext cx="5045456" cy="3133344"/>
            </a:xfrm>
            <a:prstGeom prst="rect">
              <a:avLst/>
            </a:prstGeom>
            <a:effectLst>
              <a:outerShdw blurRad="1270000" dist="50800" dir="5400000" algn="ctr" rotWithShape="0">
                <a:srgbClr val="000000">
                  <a:alpha val="43137"/>
                </a:srgbClr>
              </a:outerShdw>
            </a:effectLst>
          </p:spPr>
        </p:pic>
      </p:grp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55F50760-E3E6-4DF9-B8D9-08A293D5731F}"/>
              </a:ext>
            </a:extLst>
          </p:cNvPr>
          <p:cNvSpPr txBox="1"/>
          <p:nvPr/>
        </p:nvSpPr>
        <p:spPr>
          <a:xfrm>
            <a:off x="1270000" y="4012917"/>
            <a:ext cx="8641080" cy="136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hu-HU" sz="36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Precíz autószervíz kereső weboldal</a:t>
            </a:r>
            <a:br>
              <a:rPr lang="hu-HU" sz="36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</a:br>
            <a:r>
              <a:rPr lang="hu-HU" sz="36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gördülékeny időpont foglalással</a:t>
            </a:r>
          </a:p>
        </p:txBody>
      </p:sp>
    </p:spTree>
    <p:extLst>
      <p:ext uri="{BB962C8B-B14F-4D97-AF65-F5344CB8AC3E}">
        <p14:creationId xmlns:p14="http://schemas.microsoft.com/office/powerpoint/2010/main" val="410797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188DA9E-1F35-431B-8BCE-1290CA7995D4}"/>
              </a:ext>
            </a:extLst>
          </p:cNvPr>
          <p:cNvSpPr txBox="1"/>
          <p:nvPr/>
        </p:nvSpPr>
        <p:spPr>
          <a:xfrm>
            <a:off x="1574800" y="457200"/>
            <a:ext cx="1524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Probléma : Miért frusztráló ma szervízt találni?</a:t>
            </a:r>
            <a:endParaRPr lang="hu-HU" sz="54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7227A72C-9D09-4698-906F-654323E816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27" y="1528785"/>
            <a:ext cx="2520000" cy="2520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986C90F-C62E-4B4E-B8FD-01D239C26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639" y="1631000"/>
            <a:ext cx="2315570" cy="2315570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81D0A970-285A-4663-B567-2F151D6D0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1720" y="1690595"/>
            <a:ext cx="2072640" cy="2072640"/>
          </a:xfrm>
          <a:prstGeom prst="rect">
            <a:avLst/>
          </a:prstGeom>
        </p:spPr>
      </p:pic>
      <p:sp>
        <p:nvSpPr>
          <p:cNvPr id="17" name="Szövegdoboz 16">
            <a:extLst>
              <a:ext uri="{FF2B5EF4-FFF2-40B4-BE49-F238E27FC236}">
                <a16:creationId xmlns:a16="http://schemas.microsoft.com/office/drawing/2014/main" id="{F901B89E-6EFC-48C1-A5CF-E4BA8D63CBA5}"/>
              </a:ext>
            </a:extLst>
          </p:cNvPr>
          <p:cNvSpPr txBox="1"/>
          <p:nvPr/>
        </p:nvSpPr>
        <p:spPr>
          <a:xfrm>
            <a:off x="1592206" y="3763235"/>
            <a:ext cx="27041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32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Káosz</a:t>
            </a:r>
            <a:r>
              <a:rPr lang="hu-HU" sz="3200" b="1" dirty="0">
                <a:solidFill>
                  <a:schemeClr val="bg1">
                    <a:lumMod val="95000"/>
                  </a:schemeClr>
                </a:solidFill>
              </a:rPr>
              <a:t> és</a:t>
            </a:r>
          </a:p>
          <a:p>
            <a:pPr algn="ctr"/>
            <a:r>
              <a:rPr lang="hu-HU" sz="3200" b="1" dirty="0">
                <a:solidFill>
                  <a:schemeClr val="bg1">
                    <a:lumMod val="95000"/>
                  </a:schemeClr>
                </a:solidFill>
              </a:rPr>
              <a:t>telefonálgatás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80601F46-E7FA-4301-BFED-E1749C9206E7}"/>
              </a:ext>
            </a:extLst>
          </p:cNvPr>
          <p:cNvSpPr txBox="1"/>
          <p:nvPr/>
        </p:nvSpPr>
        <p:spPr>
          <a:xfrm>
            <a:off x="6605677" y="3763235"/>
            <a:ext cx="30446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32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Nehéz</a:t>
            </a:r>
          </a:p>
          <a:p>
            <a:pPr algn="ctr"/>
            <a:r>
              <a:rPr lang="hu-HU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hu-HU" sz="32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időpontfoglalás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EC02C07-A9E5-4242-BDB3-AC109B45BCD5}"/>
              </a:ext>
            </a:extLst>
          </p:cNvPr>
          <p:cNvSpPr txBox="1"/>
          <p:nvPr/>
        </p:nvSpPr>
        <p:spPr>
          <a:xfrm>
            <a:off x="12100240" y="3763235"/>
            <a:ext cx="289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32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Megbízhatatlan </a:t>
            </a:r>
          </a:p>
          <a:p>
            <a:pPr algn="ctr"/>
            <a:r>
              <a:rPr lang="hu-HU" sz="3200" b="1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vélemények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7F0DA4B9-0D86-4CCA-B7E0-27E63FFE6B84}"/>
              </a:ext>
            </a:extLst>
          </p:cNvPr>
          <p:cNvSpPr txBox="1"/>
          <p:nvPr/>
        </p:nvSpPr>
        <p:spPr>
          <a:xfrm>
            <a:off x="812800" y="6105407"/>
            <a:ext cx="464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Nincs transzparencia a szabad időpontokról.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Hosszas egyeztetések, visszahívásra várás.</a:t>
            </a:r>
          </a:p>
          <a:p>
            <a:endParaRPr lang="hu-HU" sz="2400" b="1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A50ACA02-480A-42FE-A9E9-94AEE1DE3A2C}"/>
              </a:ext>
            </a:extLst>
          </p:cNvPr>
          <p:cNvSpPr txBox="1"/>
          <p:nvPr/>
        </p:nvSpPr>
        <p:spPr>
          <a:xfrm>
            <a:off x="6146802" y="6130323"/>
            <a:ext cx="464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Elavult kommunikációs csatornák.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A 24/7 online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elérés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és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az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azonnali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visszaigazolás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hiánya</a:t>
            </a:r>
            <a:r>
              <a:rPr lang="es-ES" sz="2400" dirty="0"/>
              <a:t>.</a:t>
            </a:r>
          </a:p>
          <a:p>
            <a:endParaRPr lang="hu-HU" sz="2400" b="1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E9CF5C50-1958-4F35-861B-F5B2C323C50D}"/>
              </a:ext>
            </a:extLst>
          </p:cNvPr>
          <p:cNvSpPr txBox="1"/>
          <p:nvPr/>
        </p:nvSpPr>
        <p:spPr>
          <a:xfrm>
            <a:off x="11223940" y="6105407"/>
            <a:ext cx="464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Szűretlen, bárki által írható platformok (Google, Facebook).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Nem valós ügyfelektől származó, hamis értékelések.</a:t>
            </a:r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1E91D492-52B7-403F-8C75-FFDC8CC72C0E}"/>
              </a:ext>
            </a:extLst>
          </p:cNvPr>
          <p:cNvSpPr/>
          <p:nvPr/>
        </p:nvSpPr>
        <p:spPr>
          <a:xfrm>
            <a:off x="6309234" y="5400541"/>
            <a:ext cx="3637530" cy="457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B4F5C2D8-6A0C-4D9B-ABF0-4C9D3C4EAB9A}"/>
              </a:ext>
            </a:extLst>
          </p:cNvPr>
          <p:cNvSpPr/>
          <p:nvPr/>
        </p:nvSpPr>
        <p:spPr>
          <a:xfrm>
            <a:off x="1318135" y="5400540"/>
            <a:ext cx="3637530" cy="457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Téglalap 30">
            <a:extLst>
              <a:ext uri="{FF2B5EF4-FFF2-40B4-BE49-F238E27FC236}">
                <a16:creationId xmlns:a16="http://schemas.microsoft.com/office/drawing/2014/main" id="{9F4BBBFB-16A8-4328-BB9C-1BBD748F89FE}"/>
              </a:ext>
            </a:extLst>
          </p:cNvPr>
          <p:cNvSpPr/>
          <p:nvPr/>
        </p:nvSpPr>
        <p:spPr>
          <a:xfrm>
            <a:off x="11729275" y="5404351"/>
            <a:ext cx="3637530" cy="45719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830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4DA50842-471A-41BB-9AF5-92B8CA9D2CDA}"/>
              </a:ext>
            </a:extLst>
          </p:cNvPr>
          <p:cNvSpPr txBox="1"/>
          <p:nvPr/>
        </p:nvSpPr>
        <p:spPr>
          <a:xfrm>
            <a:off x="508000" y="457200"/>
            <a:ext cx="1524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5400" dirty="0">
                <a:solidFill>
                  <a:schemeClr val="bg1">
                    <a:lumMod val="95000"/>
                  </a:schemeClr>
                </a:solidFill>
                <a:latin typeface="Neue Haas Grotesk Display Pro" panose="020D0504030502050203" pitchFamily="34" charset="-18"/>
              </a:rPr>
              <a:t>A megoldás : Rendszerezett és hitelesített platform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DC911EA-4454-4BA8-A447-D0869CA8E3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1771650"/>
            <a:ext cx="1485900" cy="14859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CDBC636-D587-4C38-A3E0-CD716695CACA}"/>
              </a:ext>
            </a:extLst>
          </p:cNvPr>
          <p:cNvSpPr txBox="1"/>
          <p:nvPr/>
        </p:nvSpPr>
        <p:spPr>
          <a:xfrm>
            <a:off x="812800" y="3620929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24/7 Online Foglalás</a:t>
            </a:r>
            <a:endParaRPr lang="hu-HU" sz="3200" b="1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9A43F5A-1DC2-4A1A-AF57-2EB3ADF3E8F7}"/>
              </a:ext>
            </a:extLst>
          </p:cNvPr>
          <p:cNvSpPr txBox="1"/>
          <p:nvPr/>
        </p:nvSpPr>
        <p:spPr>
          <a:xfrm>
            <a:off x="61119" y="4350928"/>
            <a:ext cx="5029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Gyors, kényelmes foglalás 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30 perces blokkokban, 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azonnali rögzítéssel.</a:t>
            </a:r>
            <a:endParaRPr lang="hu-HU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4D44727-5366-4972-BE82-DB84459D7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6104932"/>
            <a:ext cx="3930650" cy="2039934"/>
          </a:xfrm>
          <a:prstGeom prst="rect">
            <a:avLst/>
          </a:prstGeom>
          <a:effectLst>
            <a:outerShdw blurRad="711200" dist="50800" dir="5400000" sx="1000" sy="1000" algn="ctr" rotWithShape="0">
              <a:schemeClr val="bg1"/>
            </a:out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E96EEEB-547A-4DFD-853D-E262D72AB5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462" y="1806971"/>
            <a:ext cx="1485900" cy="1485900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74A1AE55-05D4-49CF-A69D-13D703E915D2}"/>
              </a:ext>
            </a:extLst>
          </p:cNvPr>
          <p:cNvSpPr txBox="1"/>
          <p:nvPr/>
        </p:nvSpPr>
        <p:spPr>
          <a:xfrm>
            <a:off x="5613828" y="3610664"/>
            <a:ext cx="8667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b="1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Csak Hiteles Értékelések</a:t>
            </a:r>
            <a:endParaRPr lang="hu-HU" sz="3200" b="1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AB3377C-F7C8-4EFE-A1E4-BCFDA47E5FA2}"/>
              </a:ext>
            </a:extLst>
          </p:cNvPr>
          <p:cNvSpPr txBox="1"/>
          <p:nvPr/>
        </p:nvSpPr>
        <p:spPr>
          <a:xfrm>
            <a:off x="3937000" y="4358572"/>
            <a:ext cx="81248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Kizárólag a platformon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keresztül, sikeres foglalás után 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adható vélemény (1-5 csillag).</a:t>
            </a:r>
            <a:endParaRPr lang="hu-HU" sz="2800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F5D4919D-9486-43CE-8D87-1CE85DB55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812" y="6270913"/>
            <a:ext cx="3930650" cy="1417442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C518FC2E-B503-499B-8323-23B1BFB3CE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5200" y="1806971"/>
            <a:ext cx="1485900" cy="1485900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15A1D1B9-F118-4B41-AD58-78ABE6F29F6A}"/>
              </a:ext>
            </a:extLst>
          </p:cNvPr>
          <p:cNvSpPr txBox="1"/>
          <p:nvPr/>
        </p:nvSpPr>
        <p:spPr>
          <a:xfrm>
            <a:off x="10566400" y="3604580"/>
            <a:ext cx="8667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b="1" i="0" dirty="0">
                <a:solidFill>
                  <a:schemeClr val="bg1">
                    <a:lumMod val="95000"/>
                  </a:schemeClr>
                </a:solidFill>
                <a:effectLst/>
                <a:latin typeface="Neue Haas Grotesk Display Pro" panose="020D0504030502050203" pitchFamily="34" charset="-18"/>
              </a:rPr>
              <a:t>Ellenőrzött Szervizek (Admin)</a:t>
            </a:r>
            <a:endParaRPr lang="hu-HU" sz="3200" b="1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F7AD4AA3-8104-470A-A489-7F15ABA6A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9518" y="6104932"/>
            <a:ext cx="4416717" cy="1896068"/>
          </a:xfrm>
          <a:prstGeom prst="rect">
            <a:avLst/>
          </a:prstGeom>
        </p:spPr>
      </p:pic>
      <p:sp>
        <p:nvSpPr>
          <p:cNvPr id="22" name="Szövegdoboz 21">
            <a:extLst>
              <a:ext uri="{FF2B5EF4-FFF2-40B4-BE49-F238E27FC236}">
                <a16:creationId xmlns:a16="http://schemas.microsoft.com/office/drawing/2014/main" id="{4E675E19-B2EB-47FE-8B3F-E7636E57C00D}"/>
              </a:ext>
            </a:extLst>
          </p:cNvPr>
          <p:cNvSpPr txBox="1"/>
          <p:nvPr/>
        </p:nvSpPr>
        <p:spPr>
          <a:xfrm>
            <a:off x="9075738" y="4366216"/>
            <a:ext cx="81248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Zárt, megbízható ökoszisztéma. 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Minden regisztrált szervizt </a:t>
            </a:r>
          </a:p>
          <a:p>
            <a:pPr algn="ctr"/>
            <a:r>
              <a:rPr lang="hu-HU" sz="2800" b="0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adminisztrátor hagy jóvá.</a:t>
            </a:r>
            <a:endParaRPr lang="hu-HU" sz="2800" dirty="0">
              <a:solidFill>
                <a:schemeClr val="bg1">
                  <a:lumMod val="95000"/>
                </a:schemeClr>
              </a:solidFill>
              <a:latin typeface="Neue Haas Grotesk Display Pro" panose="020D0504030502050203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67617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6997207B-3F75-DF73-B54A-74C90F267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478118"/>
              </p:ext>
            </p:extLst>
          </p:nvPr>
        </p:nvGraphicFramePr>
        <p:xfrm>
          <a:off x="1574800" y="1295400"/>
          <a:ext cx="13106400" cy="7848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56933474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45699636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51580798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932135142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3200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Alapszerviz.hu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3200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Google </a:t>
                      </a:r>
                      <a:r>
                        <a:rPr lang="hu-HU" sz="3200" i="1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Maps</a:t>
                      </a:r>
                      <a:endParaRPr lang="hu-HU" sz="3200" i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3200" i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Facebook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66137317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Online időpont foglalás integrálása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18226918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Értékelési rendszer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Csak foglalás után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Bárki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Bárki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96343960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Szerviz jóváhagyása admin által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54926826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Kiemelt prémium szervizek 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35344049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algn="ctr"/>
                      <a:r>
                        <a:rPr lang="hu-HU" sz="2800" dirty="0">
                          <a:solidFill>
                            <a:schemeClr val="bg1"/>
                          </a:solidFill>
                        </a:rPr>
                        <a:t>Szolgáltatás típusok specifikus kezelése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400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>
                    <a:gradFill>
                      <a:gsLst>
                        <a:gs pos="100000">
                          <a:schemeClr val="accent1">
                            <a:lumMod val="5000"/>
                            <a:lumOff val="95000"/>
                          </a:schemeClr>
                        </a:gs>
                        <a:gs pos="89000">
                          <a:schemeClr val="tx2">
                            <a:lumMod val="7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66353929"/>
                  </a:ext>
                </a:extLst>
              </a:tr>
            </a:tbl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4B42AA55-D78A-05F6-3CFC-D83BAE6C4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5" y="2836182"/>
            <a:ext cx="895350" cy="89535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2D767AA-7525-AC95-8584-5071BDFC72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5" y="5393418"/>
            <a:ext cx="895350" cy="89535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D0FB930-ABCC-18B1-FD90-F81CD1B5F2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5" y="6724650"/>
            <a:ext cx="895350" cy="89535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7C227F4-B850-3961-E2CB-5B97EEFA65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5" y="8018916"/>
            <a:ext cx="895350" cy="89535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C31A2772-FDF0-33A9-ABD1-13559E2F3841}"/>
              </a:ext>
            </a:extLst>
          </p:cNvPr>
          <p:cNvSpPr txBox="1"/>
          <p:nvPr/>
        </p:nvSpPr>
        <p:spPr>
          <a:xfrm>
            <a:off x="2813050" y="233381"/>
            <a:ext cx="1062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b="1" dirty="0">
                <a:solidFill>
                  <a:schemeClr val="bg1"/>
                </a:solidFill>
                <a:latin typeface="Neue Haas Grotesk Display Pro" panose="020D0504030502050203" charset="-18"/>
              </a:rPr>
              <a:t>Versenytárselemzés: Valós piaci űr</a:t>
            </a:r>
          </a:p>
        </p:txBody>
      </p:sp>
    </p:spTree>
    <p:extLst>
      <p:ext uri="{BB962C8B-B14F-4D97-AF65-F5344CB8AC3E}">
        <p14:creationId xmlns:p14="http://schemas.microsoft.com/office/powerpoint/2010/main" val="179651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abadkézi sokszög 2">
            <a:extLst>
              <a:ext uri="{FF2B5EF4-FFF2-40B4-BE49-F238E27FC236}">
                <a16:creationId xmlns:a16="http://schemas.microsoft.com/office/drawing/2014/main" id="{9031391A-8D83-DCDE-D9FC-92B31AC0E664}"/>
              </a:ext>
            </a:extLst>
          </p:cNvPr>
          <p:cNvSpPr/>
          <p:nvPr/>
        </p:nvSpPr>
        <p:spPr>
          <a:xfrm>
            <a:off x="87750" y="1188720"/>
            <a:ext cx="16200000" cy="7498080"/>
          </a:xfrm>
          <a:custGeom>
            <a:avLst/>
            <a:gdLst>
              <a:gd name="csX0" fmla="*/ 0 w 16206188"/>
              <a:gd name="csY0" fmla="*/ 7498080 h 7498080"/>
              <a:gd name="csX1" fmla="*/ 8454683 w 16206188"/>
              <a:gd name="csY1" fmla="*/ 4712677 h 7498080"/>
              <a:gd name="csX2" fmla="*/ 16205982 w 16206188"/>
              <a:gd name="csY2" fmla="*/ 0 h 7498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206188" h="7498080">
                <a:moveTo>
                  <a:pt x="0" y="7498080"/>
                </a:moveTo>
                <a:cubicBezTo>
                  <a:pt x="2876843" y="6730218"/>
                  <a:pt x="5753686" y="5962357"/>
                  <a:pt x="8454683" y="4712677"/>
                </a:cubicBezTo>
                <a:cubicBezTo>
                  <a:pt x="11155680" y="3462997"/>
                  <a:pt x="16243496" y="1017563"/>
                  <a:pt x="16205982" y="0"/>
                </a:cubicBezTo>
              </a:path>
            </a:pathLst>
          </a:custGeom>
          <a:solidFill>
            <a:srgbClr val="161E29"/>
          </a:solidFill>
          <a:ln w="95250">
            <a:gradFill>
              <a:gsLst>
                <a:gs pos="100000">
                  <a:srgbClr val="FFFF00"/>
                </a:gs>
                <a:gs pos="50000">
                  <a:srgbClr val="FFC000"/>
                </a:gs>
                <a:gs pos="59000">
                  <a:srgbClr val="FFC000"/>
                </a:gs>
                <a:gs pos="26000">
                  <a:srgbClr val="92D05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Ellipszis 3">
            <a:extLst>
              <a:ext uri="{FF2B5EF4-FFF2-40B4-BE49-F238E27FC236}">
                <a16:creationId xmlns:a16="http://schemas.microsoft.com/office/drawing/2014/main" id="{A0B12A75-98DC-1B51-1586-E91B7B62C598}"/>
              </a:ext>
            </a:extLst>
          </p:cNvPr>
          <p:cNvSpPr/>
          <p:nvPr/>
        </p:nvSpPr>
        <p:spPr>
          <a:xfrm>
            <a:off x="1955800" y="7641000"/>
            <a:ext cx="720000" cy="720000"/>
          </a:xfrm>
          <a:prstGeom prst="ellipse">
            <a:avLst/>
          </a:prstGeom>
          <a:solidFill>
            <a:srgbClr val="FFFF00"/>
          </a:solidFill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F31E2466-9FC8-675B-F8A7-A010AB2B2E84}"/>
              </a:ext>
            </a:extLst>
          </p:cNvPr>
          <p:cNvSpPr/>
          <p:nvPr/>
        </p:nvSpPr>
        <p:spPr>
          <a:xfrm>
            <a:off x="7827750" y="5638800"/>
            <a:ext cx="720000" cy="720000"/>
          </a:xfrm>
          <a:prstGeom prst="ellipse">
            <a:avLst/>
          </a:prstGeom>
          <a:solidFill>
            <a:srgbClr val="FFC107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E4E7A611-28DA-43DD-35E3-A4BB569CE5CF}"/>
              </a:ext>
            </a:extLst>
          </p:cNvPr>
          <p:cNvSpPr/>
          <p:nvPr/>
        </p:nvSpPr>
        <p:spPr>
          <a:xfrm>
            <a:off x="12852400" y="3124200"/>
            <a:ext cx="720000" cy="720000"/>
          </a:xfrm>
          <a:prstGeom prst="ellipse">
            <a:avLst/>
          </a:prstGeom>
          <a:solidFill>
            <a:srgbClr val="92D050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Téglalap feliratnak 6">
            <a:extLst>
              <a:ext uri="{FF2B5EF4-FFF2-40B4-BE49-F238E27FC236}">
                <a16:creationId xmlns:a16="http://schemas.microsoft.com/office/drawing/2014/main" id="{680CF262-F472-B3FC-FF91-F62DF08B13C1}"/>
              </a:ext>
            </a:extLst>
          </p:cNvPr>
          <p:cNvSpPr/>
          <p:nvPr/>
        </p:nvSpPr>
        <p:spPr>
          <a:xfrm>
            <a:off x="1041400" y="4703400"/>
            <a:ext cx="4343400" cy="2590800"/>
          </a:xfrm>
          <a:prstGeom prst="wedgeRectCallout">
            <a:avLst/>
          </a:prstGeom>
          <a:noFill/>
          <a:ln w="349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feliratnak 7">
            <a:extLst>
              <a:ext uri="{FF2B5EF4-FFF2-40B4-BE49-F238E27FC236}">
                <a16:creationId xmlns:a16="http://schemas.microsoft.com/office/drawing/2014/main" id="{119E4D65-DC99-AEE4-A8F8-8294FA5EF4AE}"/>
              </a:ext>
            </a:extLst>
          </p:cNvPr>
          <p:cNvSpPr/>
          <p:nvPr/>
        </p:nvSpPr>
        <p:spPr>
          <a:xfrm>
            <a:off x="6642100" y="2718881"/>
            <a:ext cx="4724400" cy="2514600"/>
          </a:xfrm>
          <a:prstGeom prst="wedgeRectCallout">
            <a:avLst/>
          </a:prstGeom>
          <a:noFill/>
          <a:ln w="349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feliratnak 8">
            <a:extLst>
              <a:ext uri="{FF2B5EF4-FFF2-40B4-BE49-F238E27FC236}">
                <a16:creationId xmlns:a16="http://schemas.microsoft.com/office/drawing/2014/main" id="{EB92AFF6-ED8D-EA52-CE42-DE2A4B1A0C49}"/>
              </a:ext>
            </a:extLst>
          </p:cNvPr>
          <p:cNvSpPr/>
          <p:nvPr/>
        </p:nvSpPr>
        <p:spPr>
          <a:xfrm>
            <a:off x="11882074" y="196066"/>
            <a:ext cx="4080600" cy="2514600"/>
          </a:xfrm>
          <a:prstGeom prst="wedgeRectCallout">
            <a:avLst/>
          </a:prstGeom>
          <a:noFill/>
          <a:ln w="349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F4BC346-0747-C16D-E722-3FACE2B9DA47}"/>
              </a:ext>
            </a:extLst>
          </p:cNvPr>
          <p:cNvSpPr txBox="1"/>
          <p:nvPr/>
        </p:nvSpPr>
        <p:spPr>
          <a:xfrm>
            <a:off x="1041400" y="4844474"/>
            <a:ext cx="3810000" cy="2062103"/>
          </a:xfrm>
          <a:prstGeom prst="rect">
            <a:avLst/>
          </a:prstGeom>
          <a:noFill/>
          <a:effectLst>
            <a:glow rad="228600">
              <a:srgbClr val="FFFF00">
                <a:alpha val="4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FFFF00"/>
                </a:solidFill>
              </a:rPr>
              <a:t>Jelenleg piac képes</a:t>
            </a:r>
          </a:p>
          <a:p>
            <a:endParaRPr lang="hu-H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Működő,  tesztelt prototípus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Készen áll az éles szerverre történő telepítésre és az első 10-20 teszt szerviz bevonására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193D093-74A8-B48A-1574-51982F4C77DF}"/>
              </a:ext>
            </a:extLst>
          </p:cNvPr>
          <p:cNvSpPr txBox="1"/>
          <p:nvPr/>
        </p:nvSpPr>
        <p:spPr>
          <a:xfrm>
            <a:off x="6673850" y="2843926"/>
            <a:ext cx="41910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FFC107"/>
                </a:solidFill>
              </a:rPr>
              <a:t>Országos hálózat és Monetizáció</a:t>
            </a:r>
          </a:p>
          <a:p>
            <a:endParaRPr lang="hu-H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Kiterjesztés minden megyeszékhelyre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Prémium szerviz kiemelések bevezetése (havidíjas üzleti modell).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A6C7699E-BECB-8C90-0DE6-8D6FEFDDBB09}"/>
              </a:ext>
            </a:extLst>
          </p:cNvPr>
          <p:cNvSpPr txBox="1"/>
          <p:nvPr/>
        </p:nvSpPr>
        <p:spPr>
          <a:xfrm>
            <a:off x="11902502" y="265837"/>
            <a:ext cx="3996672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solidFill>
                  <a:srgbClr val="92D050"/>
                </a:solidFill>
              </a:rPr>
              <a:t>Hosszú táv: natív ökoszisztéma</a:t>
            </a:r>
          </a:p>
          <a:p>
            <a:endParaRPr lang="hu-HU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IOS/Android  mobilalkalmazás </a:t>
            </a:r>
          </a:p>
          <a:p>
            <a:r>
              <a:rPr lang="hu-HU" sz="2000" dirty="0">
                <a:solidFill>
                  <a:schemeClr val="bg1"/>
                </a:solidFill>
              </a:rPr>
              <a:t>fejlesztése push értesítésekkel.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bg1"/>
                </a:solidFill>
              </a:rPr>
              <a:t>Integrált online fizetési rendszer</a:t>
            </a:r>
          </a:p>
          <a:p>
            <a:r>
              <a:rPr lang="hu-HU" sz="2000" dirty="0">
                <a:solidFill>
                  <a:schemeClr val="bg1"/>
                </a:solidFill>
              </a:rPr>
              <a:t>(Striple/Barion)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1B66C7D-83C0-1196-EF81-1F7DA3ABB8FB}"/>
              </a:ext>
            </a:extLst>
          </p:cNvPr>
          <p:cNvSpPr txBox="1"/>
          <p:nvPr/>
        </p:nvSpPr>
        <p:spPr>
          <a:xfrm>
            <a:off x="196276" y="558225"/>
            <a:ext cx="10903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chemeClr val="bg1"/>
                </a:solidFill>
                <a:latin typeface="Neue Haas Grotesk Display Pro" panose="020D0504030502050203" charset="-18"/>
              </a:rPr>
              <a:t>Hasznosulás és Jövőkép: Út a piacvezető szerepig</a:t>
            </a:r>
          </a:p>
        </p:txBody>
      </p:sp>
    </p:spTree>
    <p:extLst>
      <p:ext uri="{BB962C8B-B14F-4D97-AF65-F5344CB8AC3E}">
        <p14:creationId xmlns:p14="http://schemas.microsoft.com/office/powerpoint/2010/main" val="161470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89D6727A-255A-BDB1-7541-FD18AC0B28C3}"/>
              </a:ext>
            </a:extLst>
          </p:cNvPr>
          <p:cNvSpPr txBox="1"/>
          <p:nvPr/>
        </p:nvSpPr>
        <p:spPr>
          <a:xfrm>
            <a:off x="508000" y="129424"/>
            <a:ext cx="1014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 smtClean="0">
                <a:solidFill>
                  <a:schemeClr val="bg1"/>
                </a:solidFill>
                <a:latin typeface="Neue Haas Grotesk Display Pro" panose="020D0504030502050203" charset="-18"/>
              </a:rPr>
              <a:t>Az adatbázis felépítése</a:t>
            </a:r>
            <a:endParaRPr lang="hu-HU" sz="5400" dirty="0">
              <a:solidFill>
                <a:schemeClr val="bg1"/>
              </a:solidFill>
              <a:latin typeface="Neue Haas Grotesk Display Pro" panose="020D0504030502050203" charset="-18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E0A5B88-9873-5E6C-8088-5B054CD62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0" y="283313"/>
            <a:ext cx="3810000" cy="726915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1052754"/>
            <a:ext cx="12744192" cy="787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4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3556000" y="68580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u-HU" sz="5400" dirty="0" smtClean="0">
                <a:solidFill>
                  <a:schemeClr val="bg1"/>
                </a:solidFill>
                <a:latin typeface="Neue Haas Grotesk Display Pro" panose="020D0504030502050203" charset="-18"/>
              </a:rPr>
              <a:t>Tovább a weboldalra</a:t>
            </a:r>
            <a:endParaRPr lang="hu-HU" sz="5400" dirty="0">
              <a:solidFill>
                <a:schemeClr val="bg1"/>
              </a:solidFill>
              <a:latin typeface="Neue Haas Grotesk Display Pro" panose="020D0504030502050203" charset="-18"/>
            </a:endParaRPr>
          </a:p>
        </p:txBody>
      </p:sp>
      <p:sp>
        <p:nvSpPr>
          <p:cNvPr id="3" name="Téglalap 2"/>
          <p:cNvSpPr/>
          <p:nvPr/>
        </p:nvSpPr>
        <p:spPr>
          <a:xfrm>
            <a:off x="6451600" y="2384250"/>
            <a:ext cx="64924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u-HU" sz="5400" dirty="0" smtClean="0">
                <a:solidFill>
                  <a:schemeClr val="bg1"/>
                </a:solidFill>
                <a:latin typeface="Neue Haas Grotesk Display Pro" panose="020D0504030502050203" charset="-18"/>
                <a:hlinkClick r:id="rId2"/>
              </a:rPr>
              <a:t>https://alapszerviz.hu</a:t>
            </a:r>
            <a:endParaRPr lang="hu-HU" sz="5400" dirty="0">
              <a:solidFill>
                <a:schemeClr val="bg1"/>
              </a:solidFill>
              <a:latin typeface="Neue Haas Grotesk Display Pro" panose="020D0504030502050203" charset="-18"/>
            </a:endParaRPr>
          </a:p>
        </p:txBody>
      </p:sp>
      <p:sp>
        <p:nvSpPr>
          <p:cNvPr id="4" name="Téglalap 3"/>
          <p:cNvSpPr/>
          <p:nvPr/>
        </p:nvSpPr>
        <p:spPr>
          <a:xfrm>
            <a:off x="4546600" y="2384250"/>
            <a:ext cx="16482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u-HU" sz="5400" dirty="0" smtClean="0">
                <a:solidFill>
                  <a:schemeClr val="bg1"/>
                </a:solidFill>
                <a:latin typeface="Neue Haas Grotesk Display Pro" panose="020D0504030502050203" charset="-18"/>
              </a:rPr>
              <a:t>Link :</a:t>
            </a:r>
            <a:endParaRPr lang="hu-HU" sz="5400" dirty="0">
              <a:solidFill>
                <a:schemeClr val="bg1"/>
              </a:solidFill>
              <a:latin typeface="Neue Haas Grotesk Display Pro" panose="020D0504030502050203" charset="-18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3429000"/>
            <a:ext cx="10731176" cy="53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245</Words>
  <Application>Microsoft Office PowerPoint</Application>
  <PresentationFormat>Egyéni</PresentationFormat>
  <Paragraphs>69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Neue Haas Grotesk Display Pro</vt:lpstr>
      <vt:lpstr>Arial</vt:lpstr>
      <vt:lpstr>Google Sans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Pintér Zsolt</dc:creator>
  <cp:lastModifiedBy>Pintér Zsolt</cp:lastModifiedBy>
  <cp:revision>17</cp:revision>
  <dcterms:created xsi:type="dcterms:W3CDTF">2006-08-16T00:00:00Z</dcterms:created>
  <dcterms:modified xsi:type="dcterms:W3CDTF">2026-05-15T17:21:23Z</dcterms:modified>
</cp:coreProperties>
</file>